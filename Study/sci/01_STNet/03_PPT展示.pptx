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5"/>
  </p:handoutMasterIdLst>
  <p:sldIdLst>
    <p:sldId id="338" r:id="rId3"/>
    <p:sldId id="339" r:id="rId4"/>
    <p:sldId id="362" r:id="rId5"/>
    <p:sldId id="363" r:id="rId6"/>
    <p:sldId id="387" r:id="rId7"/>
    <p:sldId id="364" r:id="rId8"/>
    <p:sldId id="371" r:id="rId9"/>
    <p:sldId id="368" r:id="rId10"/>
    <p:sldId id="381" r:id="rId12"/>
    <p:sldId id="392" r:id="rId13"/>
    <p:sldId id="266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2429"/>
    <a:srgbClr val="7B317F"/>
    <a:srgbClr val="FFFFFF"/>
    <a:srgbClr val="25506B"/>
    <a:srgbClr val="0E326D"/>
    <a:srgbClr val="2B448C"/>
    <a:srgbClr val="111486"/>
    <a:srgbClr val="0060AD"/>
    <a:srgbClr val="014393"/>
    <a:srgbClr val="EC6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4" autoAdjust="0"/>
    <p:restoredTop sz="94716"/>
  </p:normalViewPr>
  <p:slideViewPr>
    <p:cSldViewPr snapToGrid="0">
      <p:cViewPr varScale="1">
        <p:scale>
          <a:sx n="95" d="100"/>
          <a:sy n="95" d="100"/>
        </p:scale>
        <p:origin x="114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6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EBE51-C823-0743-972A-98DDAE300C6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DF2DD-1B4C-8F43-932D-EECB3FF8EB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8325" y="136525"/>
            <a:ext cx="5975350" cy="1688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2297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47665" y="217665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7087532" y="214615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3367923" y="216497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4607794" y="214617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327399" y="214614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7" name="矩形 16"/>
          <p:cNvSpPr/>
          <p:nvPr userDrawn="1"/>
        </p:nvSpPr>
        <p:spPr>
          <a:xfrm>
            <a:off x="9518896" y="226335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10758763" y="226334"/>
            <a:ext cx="58190" cy="493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1714" y="81105"/>
            <a:ext cx="2621114" cy="769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8325" y="136525"/>
            <a:ext cx="5975350" cy="1688448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39CFE-AE9C-4F95-B00F-7B000DFDC9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5B57B-C582-4FD4-8DC8-076B16E5E9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1.bin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36215"/>
            <a:ext cx="12192000" cy="3164114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"/>
            <a:ext cx="12192000" cy="509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822793" y="6520180"/>
            <a:ext cx="45464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通过深度学习整合空间基因表达和乳腺肿瘤形态。</a:t>
            </a:r>
            <a:endParaRPr lang="zh-CN" altLang="en-US" sz="16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763" y="1936205"/>
            <a:ext cx="8916237" cy="3164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/>
          <p:cNvSpPr/>
          <p:nvPr>
            <p:custDataLst>
              <p:tags r:id="rId1"/>
            </p:custDataLst>
          </p:nvPr>
        </p:nvSpPr>
        <p:spPr>
          <a:xfrm>
            <a:off x="5453151" y="2117838"/>
            <a:ext cx="739832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>
            <a:off x="6441546" y="2117838"/>
            <a:ext cx="4153595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研究背景与挑战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: 圆角 24"/>
          <p:cNvSpPr/>
          <p:nvPr>
            <p:custDataLst>
              <p:tags r:id="rId3"/>
            </p:custDataLst>
          </p:nvPr>
        </p:nvSpPr>
        <p:spPr>
          <a:xfrm>
            <a:off x="5453151" y="2952291"/>
            <a:ext cx="739832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>
            <p:custDataLst>
              <p:tags r:id="rId4"/>
            </p:custDataLst>
          </p:nvPr>
        </p:nvSpPr>
        <p:spPr>
          <a:xfrm>
            <a:off x="6441546" y="2952291"/>
            <a:ext cx="4153595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方法架构与详细思路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/>
          <p:cNvSpPr/>
          <p:nvPr>
            <p:custDataLst>
              <p:tags r:id="rId5"/>
            </p:custDataLst>
          </p:nvPr>
        </p:nvSpPr>
        <p:spPr>
          <a:xfrm>
            <a:off x="5453151" y="3786744"/>
            <a:ext cx="739832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/>
          <p:cNvSpPr/>
          <p:nvPr>
            <p:custDataLst>
              <p:tags r:id="rId6"/>
            </p:custDataLst>
          </p:nvPr>
        </p:nvSpPr>
        <p:spPr>
          <a:xfrm>
            <a:off x="6441546" y="3786744"/>
            <a:ext cx="4153595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: 圆角 29"/>
          <p:cNvSpPr/>
          <p:nvPr>
            <p:custDataLst>
              <p:tags r:id="rId7"/>
            </p:custDataLst>
          </p:nvPr>
        </p:nvSpPr>
        <p:spPr>
          <a:xfrm>
            <a:off x="6441546" y="4621197"/>
            <a:ext cx="4153595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讨论、局限性与未来展望​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96859" y="3852265"/>
            <a:ext cx="2413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  录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26"/>
          <p:cNvSpPr/>
          <p:nvPr>
            <p:custDataLst>
              <p:tags r:id="rId8"/>
            </p:custDataLst>
          </p:nvPr>
        </p:nvSpPr>
        <p:spPr>
          <a:xfrm>
            <a:off x="5453151" y="4617957"/>
            <a:ext cx="739832" cy="5696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0762" y="2117576"/>
            <a:ext cx="1865609" cy="1734689"/>
          </a:xfrm>
          <a:prstGeom prst="rect">
            <a:avLst/>
          </a:prstGeom>
        </p:spPr>
      </p:pic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6038850" y="36988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1" imgW="114300" imgH="215900" progId="Equation.KSEE3">
                  <p:embed/>
                </p:oleObj>
              </mc:Choice>
              <mc:Fallback>
                <p:oleObj name="" r:id="rId11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850" y="3698875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325120" y="1936750"/>
            <a:ext cx="11593195" cy="359283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922970"/>
            <a:ext cx="12192000" cy="182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00680" y="230505"/>
            <a:ext cx="2555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研究背景与挑战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52010" y="2547620"/>
            <a:ext cx="7265670" cy="2371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论文背景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空间转录组保留表达位置，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H&amp;E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图像普遍可得，可对齐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spot。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现有瓶颈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bulk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与单细胞测序丢失空间信息，切片级标签预测不够细。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出发点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为中心取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H&amp;E patch，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学习形态与局部表达关联。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4. </a:t>
            </a:r>
            <a:r>
              <a:rPr lang="en-US" altLang="zh-CN" sz="2000" b="1" dirty="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核心目的</a:t>
            </a:r>
            <a:endParaRPr lang="en-US" altLang="zh-CN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构建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ST-Net，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在约100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μm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分辨率预测250个基因并验证泛化。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405" y="1383665"/>
            <a:ext cx="8250555" cy="25571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840359" y="0"/>
            <a:ext cx="1327356" cy="922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053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894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1695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2518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3339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4014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0963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865120" y="231140"/>
            <a:ext cx="3845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方法架构与详细思路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8540" y="1015365"/>
            <a:ext cx="432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一、任务定义与数据标签构造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0510" y="4055110"/>
            <a:ext cx="5824855" cy="2381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输入：</a:t>
            </a:r>
            <a:r>
              <a:rPr lang="zh-CN" altLang="zh-CN" dirty="0"/>
              <a:t>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模型输入为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中心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H&amp;E patch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坐标用于对齐。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每个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patch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 250 维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归一化表达预测。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方法：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为中心取略大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patch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保留邻域，选平均表达最高 250 基因，计数加伪计数、总量归一化后取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作标签。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构建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patch—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表达多任务回归数据集，归一化去密度与深度混杂，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压缩偏斜，250 基因保信噪比。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07125" y="923290"/>
            <a:ext cx="5656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二、输入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DenseNet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多任务架构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21070" y="4054475"/>
            <a:ext cx="6028055" cy="2382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输入：</a:t>
            </a:r>
            <a:r>
              <a:rPr lang="zh-CN" altLang="zh-CN" dirty="0"/>
              <a:t>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输入为以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为中心、×20 放大下的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24×224 像素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H&amp;E patch。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输出为同一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patch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对应的 250 维基因表达预测向量。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方法：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用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ImageNet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预训练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DenseNet-121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提取共享卷积特征，经1,024维表示接全连接层，为每个基因设独立输出头。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共享卷积学习通用组织形态特征并节省计算，独立输出头适应各基因表达尺度，250 基因多任务同时回归。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40359" y="0"/>
            <a:ext cx="1327356" cy="922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053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894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1695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2518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3339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4014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0963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865120" y="231140"/>
            <a:ext cx="3845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方法架构与详细思路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922655"/>
            <a:ext cx="5656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三、标签归一化、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变换与损失函数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715" y="4011930"/>
            <a:ext cx="5761990" cy="2461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输入：</a:t>
            </a:r>
            <a:r>
              <a:rPr lang="zh-CN" altLang="zh-CN" dirty="0"/>
              <a:t>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每个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spot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经加伪计数、总量归一化、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变换后的 250 维表达标签。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网络对 250 个基因的预测值，逐基因计算平方误差。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方法：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250 个基因视为 250 个回归任务，共享卷积特征、独立输出，逐基因最小化平方误差。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归一化去密度与深度混杂，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log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压缩偏斜稳定方差；逐基因平方误差实现多任务回归并保留各基因尺度。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76884" t="8561"/>
          <a:stretch>
            <a:fillRect/>
          </a:stretch>
        </p:blipFill>
        <p:spPr>
          <a:xfrm>
            <a:off x="1896110" y="1541780"/>
            <a:ext cx="2007870" cy="24618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256030" y="1693545"/>
            <a:ext cx="6400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 基因多任务平方误差回归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70725" y="922655"/>
            <a:ext cx="3600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四、训练策略与数据增强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0" y="1970405"/>
            <a:ext cx="5179695" cy="160528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021705" y="4011295"/>
            <a:ext cx="5862320" cy="2461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输入：</a:t>
            </a:r>
            <a:r>
              <a:rPr lang="zh-CN" altLang="zh-CN" dirty="0"/>
              <a:t>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留一患者交叉验证划分的 22 名患者训练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patch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及其 250 维表达标签。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训练完成的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DenseNet-121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权重，用于留出患者预测。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方法：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ImageNet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预训练 +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SGD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训练，旋转镜像增强，测试 8 对称平均。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留一患者验证跨患者泛化，增强与测试时平均降低过拟合和预测方差。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40359" y="0"/>
            <a:ext cx="1327356" cy="922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053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894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1695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2518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3339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4014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0963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5120" y="231140"/>
            <a:ext cx="218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922655"/>
            <a:ext cx="3279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一、内部留一患者验证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82040" y="4359910"/>
            <a:ext cx="2735580" cy="215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两个代表性乳腺组织切片。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23名乳腺癌患者的平滑表达数据。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23名乳腺癌患者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Top5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基因数据 + 10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外部数据。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1351915"/>
            <a:ext cx="4773930" cy="259207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30" y="1351915"/>
            <a:ext cx="2515870" cy="256984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171" r="424" b="-171"/>
          <a:stretch>
            <a:fillRect/>
          </a:stretch>
        </p:blipFill>
        <p:spPr>
          <a:xfrm>
            <a:off x="7569200" y="1351915"/>
            <a:ext cx="4173220" cy="259207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648835" y="4357370"/>
            <a:ext cx="2788285" cy="1506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验证未见患者空间重建。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比较基因—患者一致数。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定量展示最优基因表现。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68335" y="4373880"/>
            <a:ext cx="2941320" cy="172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结论：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预测与真实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FASN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分布一致。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2.ST-Net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曲线总体最高。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中位相关0.29–0.34，平滑后0.43–0.52。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4540885" y="4198620"/>
            <a:ext cx="0" cy="217868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569200" y="4198620"/>
            <a:ext cx="0" cy="2178685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40359" y="0"/>
            <a:ext cx="1327356" cy="922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053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894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1695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2518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3339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4014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0963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5120" y="231140"/>
            <a:ext cx="2129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922655"/>
            <a:ext cx="7167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10x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外部验证与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tumor/normal baseline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0095" y="1809750"/>
            <a:ext cx="5900420" cy="3238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1.10x Genomics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乳腺癌空间数据。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23名乳腺癌患者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H&amp;E patch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检验跨设施、跨染色、跨测序深度泛化。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ST-Net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与粗粒度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tumor/normal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标签。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结论：</a:t>
            </a:r>
            <a:endParaRPr lang="zh-CN" altLang="en-US" sz="2000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207/234基因正相关，平均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Pearson 0.33，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平均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AUROC 0.73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多数点在对角线上方；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ST-Net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对245/250基因中位相关更高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65" y="2026285"/>
            <a:ext cx="5485765" cy="2805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40359" y="0"/>
            <a:ext cx="1327356" cy="9229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053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894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1695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82518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13339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40142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0963" y="283766"/>
            <a:ext cx="14962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5120" y="231140"/>
            <a:ext cx="2129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III.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性能验证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922655"/>
            <a:ext cx="4994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三、模型解释性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4840" y="4820920"/>
            <a:ext cx="5215255" cy="1572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乳腺癌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H&amp;E patch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解释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ST-Net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预测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FASN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高表达时关注哪些图像区域。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结论：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红色归因区域对应增大的细胞核；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FASN 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过表达与肿瘤相关，说明模型学到形态线索。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1383665"/>
            <a:ext cx="3946525" cy="28136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460" y="1002665"/>
            <a:ext cx="4025265" cy="369697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353810" y="4820920"/>
            <a:ext cx="5215255" cy="1572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数据集：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3名代表性乳腺癌患者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H&amp;E patch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目的：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检验网络表示是否自然编码组织语义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结论：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UMAP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tumor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normal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自然分离；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k-means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两聚类平均</a:t>
            </a:r>
            <a:r>
              <a:rPr lang="en-US" altLang="zh-CN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purity 0.89（s.d. 0.07）；</a:t>
            </a:r>
            <a:r>
              <a:rPr lang="zh-CN" altLang="en-US" sz="18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最近邻未必物理相邻</a:t>
            </a:r>
            <a:endParaRPr lang="zh-CN" altLang="en-US" sz="18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96135" y="2104390"/>
            <a:ext cx="7999730" cy="2649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核心贡献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统证明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H&amp;E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图像可直接预测空间基因表达，具跨患者泛化力，且能捕捉肿瘤内异质性与标注异常。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局限性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仅基于23名患者、预测250个高表达基因，分辨率约100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μm，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且受实验噪声与技术差异制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未来展望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可推广至其他组织，整合单细胞数据提升分辨率，并应用于大型病理图像库的空间分子筛查。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922970"/>
            <a:ext cx="12192000" cy="182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00680" y="230505"/>
            <a:ext cx="2555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IV.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总结与展望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599440" y="1725295"/>
            <a:ext cx="10993120" cy="34074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922970"/>
            <a:ext cx="12192000" cy="182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900680" y="0"/>
            <a:ext cx="9291320" cy="922020"/>
          </a:xfrm>
          <a:prstGeom prst="rect">
            <a:avLst/>
          </a:prstGeom>
          <a:solidFill>
            <a:srgbClr val="B12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00680" y="230505"/>
            <a:ext cx="2555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Ⅴ:实践部分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3" y="1936217"/>
            <a:ext cx="12192000" cy="31641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6215"/>
            <a:ext cx="12192000" cy="316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010410" y="2249805"/>
            <a:ext cx="81711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感谢聆听，敬请老师指导！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2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3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4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5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6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7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8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9.xml><?xml version="1.0" encoding="utf-8"?>
<p:tagLst xmlns:p="http://schemas.openxmlformats.org/presentationml/2006/main">
  <p:tag name="KSO_WM_DIAGRAM_VIRTUALLY_FRAME" val="{&quot;height&quot;:439.3373228346457,&quot;left&quot;:429.38196850393695,&quot;top&quot;:50.458897637795275,&quot;width&quot;:404.88110236220484}"/>
</p:tagLst>
</file>

<file path=ppt/tags/tag10.xml><?xml version="1.0" encoding="utf-8"?>
<p:tagLst xmlns:p="http://schemas.openxmlformats.org/presentationml/2006/main">
  <p:tag name="RESOURCE_RECORD_KEY" val="{&quot;29&quot;:[50053044,50053246]}"/>
</p:tagLst>
</file>

<file path=ppt/theme/theme1.xml><?xml version="1.0" encoding="utf-8"?>
<a:theme xmlns:a="http://schemas.openxmlformats.org/drawingml/2006/main" name="Office 主题​​">
  <a:themeElements>
    <a:clrScheme name="PPT模板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23230"/>
      </a:accent1>
      <a:accent2>
        <a:srgbClr val="D8D8D8"/>
      </a:accent2>
      <a:accent3>
        <a:srgbClr val="BF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2026</Words>
  <Application>WPS 演示</Application>
  <PresentationFormat>宽屏</PresentationFormat>
  <Paragraphs>197</Paragraphs>
  <Slides>11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SAKURA</dc:creator>
  <cp:lastModifiedBy>微信用户</cp:lastModifiedBy>
  <cp:revision>892</cp:revision>
  <dcterms:created xsi:type="dcterms:W3CDTF">2025-08-04T14:11:00Z</dcterms:created>
  <dcterms:modified xsi:type="dcterms:W3CDTF">2026-10-22T12:17:25Z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D85C69FF2A904F98836A2D68DD9AFB3F_12</vt:lpwstr>
  </property>
  <property fmtid="{D5CDD505-2E9C-101B-9397-08002B2CF9AE}" pid="3" name="KSOProductBuildVer">
    <vt:lpwstr>2052-12.1.0.29161</vt:lpwstr>
  </property>
</Properties>
</file>